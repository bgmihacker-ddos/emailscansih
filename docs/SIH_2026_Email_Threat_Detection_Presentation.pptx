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0344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SIH 2026 — AICTE CYBER SECURITY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AI-Powered Email Threat Detection,</a:t>
            </a:r>
            <a:br/>
            <a:r>
              <a:t>GeoLocation &amp; Forensic Intelligence</a:t>
            </a:r>
          </a:p>
          <a:p>
            <a:pPr>
              <a:spcBef>
                <a:spcPts val="1800"/>
              </a:spcBef>
              <a:defRPr sz="1500">
                <a:solidFill>
                  <a:srgbClr val="9CA3AF"/>
                </a:solidFill>
                <a:latin typeface="Segoe UI"/>
              </a:defRPr>
            </a:pPr>
            <a:r>
              <a:t>A Multi-Layered Cyber Defense Platform with Multi-Hop GeoTracing &amp; Blockchain Chain-of-Custody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60320" cy="64008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🛡️ Zero-Execution Static Sandbox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120640"/>
            <a:ext cx="2560320" cy="640080"/>
          </a:xfrm>
          <a:prstGeom prst="roundRect">
            <a:avLst/>
          </a:prstGeom>
          <a:solidFill>
            <a:srgbClr val="101F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⛓️ Sepolia Blockchain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2560320" cy="640080"/>
          </a:xfrm>
          <a:prstGeom prst="roundRect">
            <a:avLst/>
          </a:prstGeom>
          <a:solidFill>
            <a:srgbClr val="101F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🇮🇳 India Regional Threat Intel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120640"/>
            <a:ext cx="2560320" cy="640080"/>
          </a:xfrm>
          <a:prstGeom prst="roundRect">
            <a:avLst/>
          </a:prstGeom>
          <a:solidFill>
            <a:srgbClr val="101F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Sub-3-Second Triage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PROBLEM FRAMING &amp; INDUSTRY GAPS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Critical Flaws in Modern Email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02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🚨  THE THREAT LANDSCAPE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FFFFF"/>
                </a:solidFill>
              </a:rPr>
              <a:t>• 90%+ of Breaches Begin with Email: </a:t>
            </a:r>
            <a:r>
              <a:rPr sz="1100">
                <a:solidFill>
                  <a:srgbClr val="9CA3AF"/>
                </a:solidFill>
              </a:rPr>
              <a:t>Spear-phishing, Business Email Compromise (BEC), and credential harvesting remain the top global entry vector.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FFFFF"/>
                </a:solidFill>
              </a:rPr>
              <a:t>• Generative AI Deception: </a:t>
            </a:r>
            <a:r>
              <a:rPr sz="1100">
                <a:solidFill>
                  <a:srgbClr val="9CA3AF"/>
                </a:solidFill>
              </a:rPr>
              <a:t>Attackers generate grammatically perfect, highly personalized lures that easily bypass classical signature and keyword filters.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FFFFF"/>
                </a:solidFill>
              </a:rPr>
              <a:t>• Infrastructure Camouflage: </a:t>
            </a:r>
            <a:r>
              <a:rPr sz="1100">
                <a:solidFill>
                  <a:srgbClr val="9CA3AF"/>
                </a:solidFill>
              </a:rPr>
              <a:t>Widespread use of homoglyph lookalike domains, Tor relays, residential proxies, and bulletproof servers to obscure origin.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⚠️  CRITICAL INDUSTRY GAPS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• Opaque Black-Box Gateways: </a:t>
            </a:r>
            <a:r>
              <a:rPr sz="1100">
                <a:solidFill>
                  <a:srgbClr val="9CA3AF"/>
                </a:solidFill>
              </a:rPr>
              <a:t>Existing tools mark emails as 'Spam' without explainable forensic reasoning, leaving SOC analysts blind during triage.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• No Visual Mail-Flow Attribution: </a:t>
            </a:r>
            <a:r>
              <a:rPr sz="1100">
                <a:solidFill>
                  <a:srgbClr val="9CA3AF"/>
                </a:solidFill>
              </a:rPr>
              <a:t>Zero visual spatial mapping of multi-hop SMTP relay transfer routes across global coordinates.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• Legal Evidence Tampering Risks: </a:t>
            </a:r>
            <a:r>
              <a:rPr sz="1100">
                <a:solidFill>
                  <a:srgbClr val="9CA3AF"/>
                </a:solidFill>
              </a:rPr>
              <a:t>Standard server logs and emails are easily contested as alterable in court under Indian Evidence Act guidelines.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• Ignored Regional Context: </a:t>
            </a:r>
            <a:r>
              <a:rPr sz="1100">
                <a:solidFill>
                  <a:srgbClr val="9CA3AF"/>
                </a:solidFill>
              </a:rPr>
              <a:t>Standard Western tools lack telemetry for Indian PSU banking (SBI, HDFC) and UPI payment phishing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OUR INNOVATION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Triangulated Threat Fusion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03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🔐  1. Cryptographic Trust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Independent SPF verification via direct DNS TXT record checks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Cryptographic DKIM RSA signature validation via dkimpy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DMARC policy alignment &amp; ARC multi-hop validation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Header divergence flags (From vs. Reply-To vs. Return-Path)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101F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🗺️  2. Infrastructure Attribution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Recursive traversal of Received headers back to true origin IP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Multi-provider Geolocation (ipinfo, ip-api, ipapi.co fallback)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Tor bulk exit node detection &amp; datacenter proxy flags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Open port &amp; CVE reconnaissance via Shodan InternetDB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101F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🧠  3. Behavioral NLP &amp; Static ML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Safe static attachment inspection (OLE/VBA macros, PDF tokens)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Unicode Homoglyph &amp; Typosquatting (Levenshtein distance)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Social engineering urgency &amp; payment coercion detection</a:t>
            </a:r>
          </a:p>
          <a:p>
            <a:pPr>
              <a:spcBef>
                <a:spcPts val="1200"/>
              </a:spcBef>
              <a:defRPr sz="1000">
                <a:solidFill>
                  <a:srgbClr val="9CA3AF"/>
                </a:solidFill>
              </a:defRPr>
            </a:pPr>
            <a:r>
              <a:t>• Ensemble classification: TF-IDF scaler + DistilBERT ONNX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TECHNICAL ARCHITECTURE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5-Stage Modular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04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393192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Stage 01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INGESTION &amp; PARSER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RFC 5322 MIME stream parser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Base64 / QP safe decode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Live Google OAuth inbox feed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Zero-execution static buffer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57400" cy="3931920"/>
          </a:xfrm>
          <a:prstGeom prst="roundRect">
            <a:avLst/>
          </a:prstGeom>
          <a:solidFill>
            <a:srgbClr val="101F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Stage 02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STATIC FORENSICS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Native SPF/DKIM resolver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OOXML &amp; PDF token scanner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Punycode homoglyph check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Timezone drift calculation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57400" cy="3931920"/>
          </a:xfrm>
          <a:prstGeom prst="roundRect">
            <a:avLst/>
          </a:prstGeom>
          <a:solidFill>
            <a:srgbClr val="101F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Stage 03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INTEL &amp; GEOTRACE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Multi-hop relay path map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Tor Exit node validation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Shodan InternetDB port scan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Spamhaus DNSBL IP blocklists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2057400" cy="393192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Stage 04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THREAT FUSION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0-100 Calibrated Risk Index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Explainable AI causal factors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EvidenceCorrelator layer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MITRE ATT&amp;CK technique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057400" cy="3931920"/>
          </a:xfrm>
          <a:prstGeom prst="roundRect">
            <a:avLst/>
          </a:prstGeom>
          <a:solidFill>
            <a:srgbClr val="101F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Stage 05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PRESERVATION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Ethereum Sepolia Ledger anchor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Court-ready PDF report export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One-click CERT-In dispatch</a:t>
            </a:r>
          </a:p>
          <a:p>
            <a:pPr>
              <a:spcBef>
                <a:spcPts val="800"/>
              </a:spcBef>
              <a:defRPr sz="900">
                <a:solidFill>
                  <a:srgbClr val="9CA3AF"/>
                </a:solidFill>
              </a:defRPr>
            </a:pPr>
            <a:r>
              <a:t>• STIX 2.1 CTI bundle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solidFill>
            <a:srgbClr val="101F26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PRODUCTION TECH STACK: Python 3.13 | FastAPI (Async) | React 19 + TypeScript | MapLibre GL | SQLAlchemy | PostgreSQL /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THEME ALIGNMENT: BLOCKCHAIN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Tamper-Proof Chain-of-Custody on Ethereum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The Legal Hurdle in Digital Prosecution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In cybercrime prosecutions under the Indian IT Act and Bhartiya Sakshya Adhiniyam, digital evidence is routinely challenged as easily alterable or backdated on server drives.</a:t>
            </a:r>
          </a:p>
          <a:p>
            <a:pPr>
              <a:spcBef>
                <a:spcPts val="1400"/>
              </a:spcBef>
              <a:defRPr sz="1500" b="1">
                <a:solidFill>
                  <a:srgbClr val="34D399"/>
                </a:solidFill>
              </a:defRPr>
            </a:pPr>
            <a:r>
              <a:t>Our Smart Contract Evidence Anchor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Upon scan completion, engine hashes Raw EML (SHA-256) &amp; Verdict Manifest (JSON).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Committed on Ethereum Sepolia Testnet via Solidity Smart Contract.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Court-admissible PDF embeds the Etherscan Transaction Hash &amp; QR verification.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Zero-trust verification: Any judge or cyber police officer can verify integrity in 1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8121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SMART CONTRACT EVIDENCE MANIFEST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</a:defRPr>
            </a:pPr>
            <a:r>
              <a:t>BLOCKCHAIN NETWORK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Ethereum Sepolia Testnet (Chain ID: 11155111)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</a:defRPr>
            </a:pPr>
            <a:r>
              <a:t>RAW EMAIL SHA-256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e3b0c44298fc1c149afbf4c8996fb92427ae41e4649b934ca495991b7852b855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</a:defRPr>
            </a:pPr>
            <a:r>
              <a:t>VERDICT MANIFEST HASH</a:t>
            </a:r>
          </a:p>
          <a:p>
            <a:pPr>
              <a:defRPr sz="950">
                <a:solidFill>
                  <a:srgbClr val="22D3EE"/>
                </a:solidFill>
                <a:latin typeface="Consolas"/>
              </a:defRPr>
            </a:pPr>
            <a:r>
              <a:t>7d1a54127b222502f5b79b5fb0803c4f923b7b265691230114002341490214a1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</a:defRPr>
            </a:pPr>
            <a:r>
              <a:t>TRANSACTION HASH</a:t>
            </a:r>
          </a:p>
          <a:p>
            <a:pPr>
              <a:defRPr sz="950">
                <a:solidFill>
                  <a:srgbClr val="FBBF24"/>
                </a:solidFill>
                <a:latin typeface="Consolas"/>
              </a:defRPr>
            </a:pPr>
            <a:r>
              <a:t>0x71c569f1a23b490d8591e0a29f8c1482b930d81023e9a4f9</a:t>
            </a:r>
          </a:p>
          <a:p>
            <a:pPr>
              <a:spcBef>
                <a:spcPts val="1000"/>
              </a:spcBef>
              <a:defRPr sz="900" b="1">
                <a:solidFill>
                  <a:srgbClr val="64748B"/>
                </a:solidFill>
              </a:defRPr>
            </a:pPr>
            <a:r>
              <a:t>STANDARDS COMPLIANCE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ISO/IEC 27037 Digital Evidence Admissibility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NATIONAL CYBER DEFENSE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India Regional Threat Telemetry &amp; CERT-In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06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🇮🇳  NATIVE INDIAN THREAT INTEL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Banking &amp; PSU Spoofing Engine: </a:t>
            </a:r>
            <a:r>
              <a:rPr sz="1050">
                <a:solidFill>
                  <a:srgbClr val="9CA3AF"/>
                </a:solidFill>
              </a:rPr>
              <a:t>Targeted detection of SBI, HDFC, ICICI, PNB, and Axis Bank KYC verification phishing lures.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UPI &amp; Payment Gateway Fraud: </a:t>
            </a:r>
            <a:r>
              <a:rPr sz="1050">
                <a:solidFill>
                  <a:srgbClr val="9CA3AF"/>
                </a:solidFill>
              </a:rPr>
              <a:t>Identifies deceptive QR links, UPI payment reversal traps, and Indian fintech impersonations.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Sovereign Domain Whitelisting: </a:t>
            </a:r>
            <a:r>
              <a:rPr sz="1050">
                <a:solidFill>
                  <a:srgbClr val="9CA3AF"/>
                </a:solidFill>
              </a:rPr>
              <a:t>Strict divergence flags on unauthorized servers claiming .gov.in, .nic.in, or .ac.in origins.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Indian Timezone Verification: </a:t>
            </a:r>
            <a:r>
              <a:rPr sz="1050">
                <a:solidFill>
                  <a:srgbClr val="9CA3AF"/>
                </a:solidFill>
              </a:rPr>
              <a:t>Cross-checks IST (+0530) timestamps against IP geographic timezone coordinates to detect proxy spoofing.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📤  ONE-CLICK CERT-IN INCIDENT DISPATCH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National Standard Template: </a:t>
            </a:r>
            <a:r>
              <a:rPr sz="1050">
                <a:solidFill>
                  <a:srgbClr val="9CA3AF"/>
                </a:solidFill>
              </a:rPr>
              <a:t>Eliminates manual compilation by auto-formatting incident reports matching national CERT-In reporting guidelines.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Automated IOC Structuring: </a:t>
            </a:r>
            <a:r>
              <a:rPr sz="1050">
                <a:solidFill>
                  <a:srgbClr val="9CA3AF"/>
                </a:solidFill>
              </a:rPr>
              <a:t>Packages observed malicious domains, IPs, file hashes, and headers into structured formats.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STIX 2.1 Threat Sharing: </a:t>
            </a:r>
            <a:r>
              <a:rPr sz="1050">
                <a:solidFill>
                  <a:srgbClr val="9CA3AF"/>
                </a:solidFill>
              </a:rPr>
              <a:t>Direct interoperability with law enforcement and enterprise SIEM/SOAR platforms.</a:t>
            </a:r>
          </a:p>
          <a:p>
            <a:pPr>
              <a:spcBef>
                <a:spcPts val="1100"/>
              </a:spcBef>
            </a:pPr>
            <a:r>
              <a:rPr b="1" sz="1050">
                <a:solidFill>
                  <a:srgbClr val="FFFFFF"/>
                </a:solidFill>
              </a:rPr>
              <a:t>• Massive Time Savings: </a:t>
            </a:r>
            <a:r>
              <a:rPr sz="1050">
                <a:solidFill>
                  <a:srgbClr val="9CA3AF"/>
                </a:solidFill>
              </a:rPr>
              <a:t>Reduces incident reporting time from 3+ hours to under 5 seconds during an ongoing cyber attack.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FEASIBILITY &amp; VIABILITY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Operational Feasibility &amp; Zero-Cost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07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900" b="1">
                <a:solidFill>
                  <a:srgbClr val="22D3EE"/>
                </a:solidFill>
              </a:defRPr>
            </a:pPr>
            <a:r>
              <a:t>01. TECHNICAL FEASIBILITY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High Performance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Sub-3-second end-to-end multi-part message triage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Circuit breakers guarantee 100% offline availability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Processes thousands of emails concurrently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900" b="1">
                <a:solidFill>
                  <a:srgbClr val="34D399"/>
                </a:solidFill>
              </a:defRPr>
            </a:pPr>
            <a:r>
              <a:t>02. FINANCIAL VIABILITY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Zero Runtime Cost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Keyless public feeds (Shodan InternetDB, Tor bulk lists, RDAP)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Open-source models (pyspf, dkimpy, DistilBERT ONNX)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Zero mandatory per-scan API licensing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900" b="1">
                <a:solidFill>
                  <a:srgbClr val="FBBF24"/>
                </a:solidFill>
              </a:defRPr>
            </a:pPr>
            <a:r>
              <a:t>03. ENTERPRISE ADOPTION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Seamless Intake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No rip-and-replace of existing email servers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Active Google OAuth listener + API gateway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Containerized on-premise Docker Compose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04. PRIVACY &amp; COMPLIANCE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DPDP Act Ready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Automatic PII redaction and raw body masking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Conforms to ISO/IEC 27037 digital evidence standards</a:t>
            </a:r>
          </a:p>
          <a:p>
            <a:pPr>
              <a:spcBef>
                <a:spcPts val="1000"/>
              </a:spcBef>
              <a:defRPr sz="950">
                <a:solidFill>
                  <a:srgbClr val="9CA3AF"/>
                </a:solidFill>
              </a:defRPr>
            </a:pPr>
            <a:r>
              <a:t>• Data minimization with configurable retention sweeps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SMART INDIA HACKATHON 2026  |  DEMONSTRATION ROADMAP</a:t>
            </a:r>
          </a:p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Demo Sequence &amp; 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onsolas"/>
              </a:defRPr>
            </a:pPr>
            <a:r>
              <a:t>08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01F2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🎯  5-MINUTE LIVE DEMO SEQUENCE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FFFFF"/>
                </a:solidFill>
              </a:rPr>
              <a:t>Minute 0:00 - 1:00: </a:t>
            </a:r>
            <a:r>
              <a:rPr sz="1000">
                <a:solidFill>
                  <a:srgbClr val="9CA3AF"/>
                </a:solidFill>
              </a:rPr>
              <a:t>Connect live Google Mailbox via OAuth &amp; pull recent incoming feed.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FFFFF"/>
                </a:solidFill>
              </a:rPr>
              <a:t>Minute 1:00 - 2:00: </a:t>
            </a:r>
            <a:r>
              <a:rPr sz="1000">
                <a:solidFill>
                  <a:srgbClr val="9CA3AF"/>
                </a:solidFill>
              </a:rPr>
              <a:t>Execute 1-click triage of an Indian Banking KYC Homoglyph attack.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FFFFF"/>
                </a:solidFill>
              </a:rPr>
              <a:t>Minute 2:00 - 3:15: </a:t>
            </a:r>
            <a:r>
              <a:rPr sz="1000">
                <a:solidFill>
                  <a:srgbClr val="9CA3AF"/>
                </a:solidFill>
              </a:rPr>
              <a:t>Display the interactive Relay Path Map tracing origin to an active Tor node.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FFFFF"/>
                </a:solidFill>
              </a:rPr>
              <a:t>Minute 3:15 - 4:00: </a:t>
            </a:r>
            <a:r>
              <a:rPr sz="1000">
                <a:solidFill>
                  <a:srgbClr val="9CA3AF"/>
                </a:solidFill>
              </a:rPr>
              <a:t>Review explainable AI reasons &amp; one-click CERT-In incident export.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FFFFF"/>
                </a:solidFill>
              </a:rPr>
              <a:t>Minute 4:00 - 5:00: </a:t>
            </a:r>
            <a:r>
              <a:rPr sz="1000">
                <a:solidFill>
                  <a:srgbClr val="9CA3AF"/>
                </a:solidFill>
              </a:rPr>
              <a:t>Download court PDF &amp; verify the immutable transaction on Sepolia Etherscan.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10344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🏆  WHY OUR PLATFORM DESERVES TO WIN</a:t>
            </a:r>
          </a:p>
          <a:p>
            <a:pPr>
              <a:spcBef>
                <a:spcPts val="1400"/>
              </a:spcBef>
            </a:pPr>
            <a:r>
              <a:rPr b="1" sz="1050">
                <a:solidFill>
                  <a:srgbClr val="FFFFFF"/>
                </a:solidFill>
              </a:rPr>
              <a:t>• 100% Theme Match: </a:t>
            </a:r>
            <a:r>
              <a:rPr sz="1050">
                <a:solidFill>
                  <a:srgbClr val="9CA3AF"/>
                </a:solidFill>
              </a:rPr>
              <a:t>Direct synthesis of Blockchain (Sepolia tamper-proof ledger) and Cybersecurity (forensic threat intelligence).</a:t>
            </a:r>
          </a:p>
          <a:p>
            <a:pPr>
              <a:spcBef>
                <a:spcPts val="1400"/>
              </a:spcBef>
            </a:pPr>
            <a:r>
              <a:rPr b="1" sz="1050">
                <a:solidFill>
                  <a:srgbClr val="FFFFFF"/>
                </a:solidFill>
              </a:rPr>
              <a:t>• Production-Ready Implementation: </a:t>
            </a:r>
            <a:r>
              <a:rPr sz="1050">
                <a:solidFill>
                  <a:srgbClr val="9CA3AF"/>
                </a:solidFill>
              </a:rPr>
              <a:t>Not an academic toy or notebook. Fully operational React 19 + FastAPI microservice architecture.</a:t>
            </a:r>
          </a:p>
          <a:p>
            <a:pPr>
              <a:spcBef>
                <a:spcPts val="1400"/>
              </a:spcBef>
            </a:pPr>
            <a:r>
              <a:rPr b="1" sz="1050">
                <a:solidFill>
                  <a:srgbClr val="FFFFFF"/>
                </a:solidFill>
              </a:rPr>
              <a:t>• Sovereign Alignment: </a:t>
            </a:r>
            <a:r>
              <a:rPr sz="1050">
                <a:solidFill>
                  <a:srgbClr val="9CA3AF"/>
                </a:solidFill>
              </a:rPr>
              <a:t>Directly addresses AICTE and CERT-In mandates protecting Indian citizens and critical infrastructure from fraud.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22D3EE"/>
                </a:solidFill>
              </a:defRPr>
            </a:pPr>
            <a:r>
              <a:t>THANK YOU  |  OPEN FOR QUESTIONS &amp; JURY SCRUTINY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