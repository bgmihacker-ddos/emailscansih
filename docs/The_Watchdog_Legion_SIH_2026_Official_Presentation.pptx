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Arimo Bold" charset="1" panose="020B0704020202020204"/>
      <p:regular r:id="rId19"/>
    </p:embeddedFont>
    <p:embeddedFont>
      <p:font typeface="Calibri (MS) Bold" charset="1" panose="020F0702030404030204"/>
      <p:regular r:id="rId20"/>
    </p:embeddedFont>
    <p:embeddedFont>
      <p:font typeface="Times New Roman Bold" charset="1" panose="02020803070505020304"/>
      <p:regular r:id="rId22"/>
    </p:embeddedFont>
    <p:embeddedFont>
      <p:font typeface="Arimo" charset="1" panose="020B0604020202020204"/>
      <p:regular r:id="rId23"/>
    </p:embeddedFont>
    <p:embeddedFont>
      <p:font typeface="Calibri (MS)" charset="1" panose="020F0502020204030204"/>
      <p:regular r:id="rId24"/>
    </p:embeddedFont>
    <p:embeddedFont>
      <p:font typeface="Arial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2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Slide" Target="notesSlides/notesSlide3.xml"/><Relationship Id="rId26" Type="http://schemas.openxmlformats.org/officeDocument/2006/relationships/notesSlide" Target="notesSlides/notesSlide4.xml"/><Relationship Id="rId27" Type="http://schemas.openxmlformats.org/officeDocument/2006/relationships/notesSlide" Target="notesSlides/notesSlide5.xml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39645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62434" y="2305488"/>
            <a:ext cx="11821972" cy="57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</a:pPr>
          </a:p>
          <a:p>
            <a:pPr algn="just" marL="577790" indent="-288895" lvl="1">
              <a:lnSpc>
                <a:spcPts val="7662"/>
              </a:lnSpc>
              <a:buFont typeface="Arial"/>
              <a:buChar char="•"/>
            </a:pPr>
            <a:r>
              <a:rPr lang="en-US" b="true" sz="319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26106</a:t>
            </a:r>
          </a:p>
          <a:p>
            <a:pPr algn="just" marL="520011" indent="-260006" lvl="1">
              <a:lnSpc>
                <a:spcPts val="6896"/>
              </a:lnSpc>
              <a:buFont typeface="Arial"/>
              <a:buChar char="•"/>
            </a:pPr>
            <a:r>
              <a:rPr lang="en-US" b="true" sz="287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b="true" sz="2873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873" i="true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AI-Powered Email Threat Detection, GeoLocation and Forensic Intelligence Platform</a:t>
            </a:r>
          </a:p>
          <a:p>
            <a:pPr algn="just" marL="520011" indent="-260006" lvl="1">
              <a:lnSpc>
                <a:spcPts val="6896"/>
              </a:lnSpc>
              <a:buFont typeface="Arial"/>
              <a:buChar char="•"/>
            </a:pPr>
            <a:r>
              <a:rPr lang="en-US" b="true" sz="287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2873" i="true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Block Chain and cyber Security</a:t>
            </a:r>
          </a:p>
          <a:p>
            <a:pPr algn="just" marL="577790" indent="-288895" lvl="1">
              <a:lnSpc>
                <a:spcPts val="7662"/>
              </a:lnSpc>
              <a:buFont typeface="Arial"/>
              <a:buChar char="•"/>
            </a:pPr>
            <a:r>
              <a:rPr lang="en-US" b="true" sz="319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77790" indent="-288895" lvl="1">
              <a:lnSpc>
                <a:spcPts val="7662"/>
              </a:lnSpc>
              <a:buFont typeface="Arial"/>
              <a:buChar char="•"/>
            </a:pPr>
            <a:r>
              <a:rPr lang="en-US" b="true" sz="319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portal):</a:t>
            </a:r>
            <a:r>
              <a:rPr lang="en-US" b="true" sz="3192" i="true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Watch Dog Legion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576" y="9555261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7309" y="420986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“Detect. Investigate. Trace. Preserve.”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214280" y="990069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5451" y="484451"/>
            <a:ext cx="1929956" cy="1707585"/>
            <a:chOff x="0" y="0"/>
            <a:chExt cx="2573274" cy="2276780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73274" cy="2276856"/>
            </a:xfrm>
            <a:custGeom>
              <a:avLst/>
              <a:gdLst/>
              <a:ahLst/>
              <a:cxnLst/>
              <a:rect r="r" b="b" t="t" l="l"/>
              <a:pathLst>
                <a:path h="2276856" w="2573274">
                  <a:moveTo>
                    <a:pt x="0" y="1138428"/>
                  </a:moveTo>
                  <a:cubicBezTo>
                    <a:pt x="0" y="509651"/>
                    <a:pt x="576094" y="0"/>
                    <a:pt x="1286637" y="0"/>
                  </a:cubicBezTo>
                  <a:cubicBezTo>
                    <a:pt x="1997180" y="0"/>
                    <a:pt x="2573274" y="509651"/>
                    <a:pt x="2573274" y="1138428"/>
                  </a:cubicBezTo>
                  <a:cubicBezTo>
                    <a:pt x="2573274" y="1767205"/>
                    <a:pt x="1997180" y="2276856"/>
                    <a:pt x="1286637" y="2276856"/>
                  </a:cubicBezTo>
                  <a:cubicBezTo>
                    <a:pt x="576094" y="2276856"/>
                    <a:pt x="0" y="1767078"/>
                    <a:pt x="0" y="113842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73274" cy="231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Watchdog Legion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67309" y="2262650"/>
            <a:ext cx="16914171" cy="7292611"/>
          </a:xfrm>
          <a:custGeom>
            <a:avLst/>
            <a:gdLst/>
            <a:ahLst/>
            <a:cxnLst/>
            <a:rect r="r" b="b" t="t" l="l"/>
            <a:pathLst>
              <a:path h="7292611" w="16914171">
                <a:moveTo>
                  <a:pt x="0" y="0"/>
                </a:moveTo>
                <a:lnTo>
                  <a:pt x="16914171" y="0"/>
                </a:lnTo>
                <a:lnTo>
                  <a:pt x="16914171" y="7292611"/>
                </a:lnTo>
                <a:lnTo>
                  <a:pt x="0" y="7292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43" t="-27151" r="-1858" b="-169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0"/>
            <a:ext cx="1915887" cy="1595752"/>
            <a:chOff x="0" y="0"/>
            <a:chExt cx="2554516" cy="2127669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2127682"/>
            </a:xfrm>
            <a:custGeom>
              <a:avLst/>
              <a:gdLst/>
              <a:ahLst/>
              <a:cxnLst/>
              <a:rect r="r" b="b" t="t" l="l"/>
              <a:pathLst>
                <a:path h="2127682" w="2554478">
                  <a:moveTo>
                    <a:pt x="0" y="1063843"/>
                  </a:moveTo>
                  <a:cubicBezTo>
                    <a:pt x="0" y="476352"/>
                    <a:pt x="571881" y="0"/>
                    <a:pt x="1277239" y="0"/>
                  </a:cubicBezTo>
                  <a:cubicBezTo>
                    <a:pt x="1982597" y="0"/>
                    <a:pt x="2554478" y="476352"/>
                    <a:pt x="2554478" y="1063843"/>
                  </a:cubicBezTo>
                  <a:cubicBezTo>
                    <a:pt x="2554478" y="1651333"/>
                    <a:pt x="1982597" y="2127682"/>
                    <a:pt x="1277239" y="2127682"/>
                  </a:cubicBezTo>
                  <a:cubicBezTo>
                    <a:pt x="571881" y="2127682"/>
                    <a:pt x="0" y="1651333"/>
                    <a:pt x="0" y="106384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2184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Watchdog legion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59354" y="1643063"/>
            <a:ext cx="17569291" cy="7889081"/>
          </a:xfrm>
          <a:custGeom>
            <a:avLst/>
            <a:gdLst/>
            <a:ahLst/>
            <a:cxnLst/>
            <a:rect r="r" b="b" t="t" l="l"/>
            <a:pathLst>
              <a:path h="7889081" w="17569291">
                <a:moveTo>
                  <a:pt x="0" y="0"/>
                </a:moveTo>
                <a:lnTo>
                  <a:pt x="17569292" y="0"/>
                </a:lnTo>
                <a:lnTo>
                  <a:pt x="17569292" y="7889081"/>
                </a:lnTo>
                <a:lnTo>
                  <a:pt x="0" y="7889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44" t="-15834" r="-744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2248"/>
            <a:ext cx="1915887" cy="1640815"/>
            <a:chOff x="0" y="0"/>
            <a:chExt cx="2554516" cy="2187753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2187765"/>
            </a:xfrm>
            <a:custGeom>
              <a:avLst/>
              <a:gdLst/>
              <a:ahLst/>
              <a:cxnLst/>
              <a:rect r="r" b="b" t="t" l="l"/>
              <a:pathLst>
                <a:path h="2187765" w="2554478">
                  <a:moveTo>
                    <a:pt x="0" y="1093885"/>
                  </a:moveTo>
                  <a:cubicBezTo>
                    <a:pt x="0" y="489804"/>
                    <a:pt x="571881" y="0"/>
                    <a:pt x="1277239" y="0"/>
                  </a:cubicBezTo>
                  <a:cubicBezTo>
                    <a:pt x="1982597" y="0"/>
                    <a:pt x="2554478" y="489804"/>
                    <a:pt x="2554478" y="1093885"/>
                  </a:cubicBezTo>
                  <a:cubicBezTo>
                    <a:pt x="2554478" y="1697965"/>
                    <a:pt x="1982597" y="2187765"/>
                    <a:pt x="1277239" y="2187765"/>
                  </a:cubicBezTo>
                  <a:cubicBezTo>
                    <a:pt x="571881" y="2187765"/>
                    <a:pt x="0" y="1697965"/>
                    <a:pt x="0" y="109388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224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Watchdog Legion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59354" y="1643062"/>
            <a:ext cx="17569291" cy="7720919"/>
          </a:xfrm>
          <a:custGeom>
            <a:avLst/>
            <a:gdLst/>
            <a:ahLst/>
            <a:cxnLst/>
            <a:rect r="r" b="b" t="t" l="l"/>
            <a:pathLst>
              <a:path h="7720919" w="17569291">
                <a:moveTo>
                  <a:pt x="0" y="0"/>
                </a:moveTo>
                <a:lnTo>
                  <a:pt x="17569292" y="0"/>
                </a:lnTo>
                <a:lnTo>
                  <a:pt x="17569292" y="7720920"/>
                </a:lnTo>
                <a:lnTo>
                  <a:pt x="0" y="7720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08" r="0" b="-38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145723"/>
            <a:ext cx="1915887" cy="1514233"/>
            <a:chOff x="0" y="0"/>
            <a:chExt cx="2554516" cy="201897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2018990"/>
            </a:xfrm>
            <a:custGeom>
              <a:avLst/>
              <a:gdLst/>
              <a:ahLst/>
              <a:cxnLst/>
              <a:rect r="r" b="b" t="t" l="l"/>
              <a:pathLst>
                <a:path h="2018990" w="2554478">
                  <a:moveTo>
                    <a:pt x="0" y="1009496"/>
                  </a:moveTo>
                  <a:cubicBezTo>
                    <a:pt x="0" y="452018"/>
                    <a:pt x="571881" y="0"/>
                    <a:pt x="1277239" y="0"/>
                  </a:cubicBezTo>
                  <a:cubicBezTo>
                    <a:pt x="1982597" y="0"/>
                    <a:pt x="2554478" y="452018"/>
                    <a:pt x="2554478" y="1009496"/>
                  </a:cubicBezTo>
                  <a:cubicBezTo>
                    <a:pt x="2554478" y="1566975"/>
                    <a:pt x="1982597" y="2018990"/>
                    <a:pt x="1277239" y="2018990"/>
                  </a:cubicBezTo>
                  <a:cubicBezTo>
                    <a:pt x="571881" y="2018990"/>
                    <a:pt x="0" y="1566975"/>
                    <a:pt x="0" y="100949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2076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Watchdog Legion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75612" y="1790666"/>
            <a:ext cx="17569291" cy="7467634"/>
          </a:xfrm>
          <a:custGeom>
            <a:avLst/>
            <a:gdLst/>
            <a:ahLst/>
            <a:cxnLst/>
            <a:rect r="r" b="b" t="t" l="l"/>
            <a:pathLst>
              <a:path h="7467634" w="17569291">
                <a:moveTo>
                  <a:pt x="0" y="0"/>
                </a:moveTo>
                <a:lnTo>
                  <a:pt x="17569291" y="0"/>
                </a:lnTo>
                <a:lnTo>
                  <a:pt x="17569291" y="7467634"/>
                </a:lnTo>
                <a:lnTo>
                  <a:pt x="0" y="746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390" r="0" b="-518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r>
                <a:t>The Watchdog Legion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9" name="Rounded Rectangle 18"/>
          <p:cNvSpPr/>
          <p:nvPr/>
        </p:nvSpPr>
        <p:spPr>
          <a:xfrm>
            <a:off x="777240" y="1920240"/>
            <a:ext cx="5303520" cy="68580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950" b="1">
                <a:solidFill>
                  <a:srgbClr val="1E40AF"/>
                </a:solidFill>
                <a:latin typeface="Arial"/>
              </a:defRPr>
            </a:pPr>
            <a:r>
              <a:t>RFC SPECIFICATIONS &amp; CORE STANDARDS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1. Protocols &amp; Email Security Standards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40AF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RFC 7208: </a:t>
            </a:r>
            <a:r>
              <a:rPr sz="1050">
                <a:solidFill>
                  <a:srgbClr val="64748B"/>
                </a:solidFill>
                <a:latin typeface="Arial"/>
              </a:rPr>
              <a:t>Sender Policy Framework (SPF) for validating authorized sending MTAs.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40AF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RFC 6376: </a:t>
            </a:r>
            <a:r>
              <a:rPr sz="1050">
                <a:solidFill>
                  <a:srgbClr val="64748B"/>
                </a:solidFill>
                <a:latin typeface="Arial"/>
              </a:rPr>
              <a:t>DomainKeys Identified Mail (DKIM) cryptographic RSA/Ed25519 signatures.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40AF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RFC 7489: </a:t>
            </a:r>
            <a:r>
              <a:rPr sz="1050">
                <a:solidFill>
                  <a:srgbClr val="64748B"/>
                </a:solidFill>
                <a:latin typeface="Arial"/>
              </a:rPr>
              <a:t>Domain-based Message Authentication, Reporting &amp; Conformance (DMARC).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40AF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RFC 8617: </a:t>
            </a:r>
            <a:r>
              <a:rPr sz="1050">
                <a:solidFill>
                  <a:srgbClr val="64748B"/>
                </a:solidFill>
                <a:latin typeface="Arial"/>
              </a:rPr>
              <a:t>Authenticated Received Chain (ARC) protocol for multi-hop mail forwarders.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E40AF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RFC 5322: </a:t>
            </a:r>
            <a:r>
              <a:rPr sz="1050">
                <a:solidFill>
                  <a:srgbClr val="64748B"/>
                </a:solidFill>
                <a:latin typeface="Arial"/>
              </a:rPr>
              <a:t>Internet Message Format (IMF) structural standards and Received header chaining.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59" y="1920240"/>
            <a:ext cx="5303520" cy="68580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CYBER THREAT INTELLIGENCE &amp; MITRE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2. Threat Intelligence &amp; Frameworks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0B981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MITRE ATT&amp;CK Matrix: </a:t>
            </a:r>
            <a:r>
              <a:rPr sz="1050">
                <a:solidFill>
                  <a:srgbClr val="64748B"/>
                </a:solidFill>
                <a:latin typeface="Arial"/>
              </a:rPr>
              <a:t>Techniques T1566 (Phishing), T1078 (Valid Accounts), T1036 (Masquerading).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0B981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OASIS STIX 2.1: </a:t>
            </a:r>
            <a:r>
              <a:rPr sz="1050">
                <a:solidFill>
                  <a:srgbClr val="64748B"/>
                </a:solidFill>
                <a:latin typeface="Arial"/>
              </a:rPr>
              <a:t>Structured Threat Information Expression standard for machine-readable CTI.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0B981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AbuseIPDB &amp; URLhaus: </a:t>
            </a:r>
            <a:r>
              <a:rPr sz="1050">
                <a:solidFill>
                  <a:srgbClr val="64748B"/>
                </a:solidFill>
                <a:latin typeface="Arial"/>
              </a:rPr>
              <a:t>Real-time global repository of verified malicious IPs and malware distribution URLs.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0B981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Shodan InternetDB: </a:t>
            </a:r>
            <a:r>
              <a:rPr sz="1050">
                <a:solidFill>
                  <a:srgbClr val="64748B"/>
                </a:solidFill>
                <a:latin typeface="Arial"/>
              </a:rPr>
              <a:t>Keyless infrastructure scanner for open mail relay ports (25, 587) and vulnerabilities.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0B981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Spamhaus DNSBL: </a:t>
            </a:r>
            <a:r>
              <a:rPr sz="1050">
                <a:solidFill>
                  <a:srgbClr val="64748B"/>
                </a:solidFill>
                <a:latin typeface="Arial"/>
              </a:rPr>
              <a:t>Real-time DNS-based blocklists for known spam hosts and compromised networks.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298680" y="1920240"/>
            <a:ext cx="5303520" cy="68580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LEGAL ADMISSIBILITY &amp; AI RESEARCH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3. Blockchain, Compliance &amp; Literature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7C3AED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ISO/IEC 27037:2012: </a:t>
            </a:r>
            <a:r>
              <a:rPr sz="1050">
                <a:solidFill>
                  <a:srgbClr val="64748B"/>
                </a:solidFill>
                <a:latin typeface="Arial"/>
              </a:rPr>
              <a:t>Guidelines for identification, collection, acquisition &amp; preservation of digital evidence.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7C3AED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Ethereum Sepolia Testnet: </a:t>
            </a:r>
            <a:r>
              <a:rPr sz="1050">
                <a:solidFill>
                  <a:srgbClr val="64748B"/>
                </a:solidFill>
                <a:latin typeface="Arial"/>
              </a:rPr>
              <a:t>Immutable decentralized smart contract ledger for tamper-evident SHA-256 anchoring.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7C3AED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Indian IT Act &amp; BSA: </a:t>
            </a:r>
            <a:r>
              <a:rPr sz="1050">
                <a:solidFill>
                  <a:srgbClr val="64748B"/>
                </a:solidFill>
                <a:latin typeface="Arial"/>
              </a:rPr>
              <a:t>Admissibility compliance under Bharatiya Sakshya Adhiniyam for electronic records.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7C3AED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CERT-In Guidelines: </a:t>
            </a:r>
            <a:r>
              <a:rPr sz="1050">
                <a:solidFill>
                  <a:srgbClr val="64748B"/>
                </a:solidFill>
                <a:latin typeface="Arial"/>
              </a:rPr>
              <a:t>National cyber incident reporting formats for automated law-enforcement dispatch.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7C3AED"/>
                </a:solidFill>
                <a:latin typeface="Arial"/>
              </a:rPr>
              <a:t>• </a:t>
            </a:r>
            <a:r>
              <a:rPr b="1" sz="1100">
                <a:solidFill>
                  <a:srgbClr val="1E293B"/>
                </a:solidFill>
                <a:latin typeface="Arial"/>
              </a:rPr>
              <a:t>Academic NLP Datasets: </a:t>
            </a:r>
            <a:r>
              <a:rPr sz="1050">
                <a:solidFill>
                  <a:srgbClr val="64748B"/>
                </a:solidFill>
                <a:latin typeface="Arial"/>
              </a:rPr>
              <a:t>Benchmarking against Enron Email Dataset, SpamAssassin, and phishing corpora.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DAHU8tOZYQ8</dc:identifier>
  <dcterms:modified xsi:type="dcterms:W3CDTF">2011-08-01T06:04:30Z</dcterms:modified>
  <cp:revision>1</cp:revision>
  <dc:title>watchdog legion hackatton.pptx</dc:title>
</cp:coreProperties>
</file>