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0284C7"/>
                </a:solidFill>
                <a:latin typeface="Calibri"/>
              </a:defRPr>
            </a:pPr>
            <a:r>
              <a:t>SMART INDIA HACKATHON 2026 — IDEA SUBMISSION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Problem Statement ID: </a:t>
            </a:r>
            <a:r>
              <a:rPr sz="1300" b="1">
                <a:solidFill>
                  <a:srgbClr val="0284C7"/>
                </a:solidFill>
                <a:latin typeface="Calibri"/>
              </a:rPr>
              <a:t>26106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Problem Statement Title: </a:t>
            </a:r>
            <a:r>
              <a:rPr sz="1300" b="0">
                <a:solidFill>
                  <a:srgbClr val="334155"/>
                </a:solidFill>
                <a:latin typeface="Calibri"/>
              </a:rPr>
              <a:t>AI-Powered Email Threat Detection, GeoLocation and Forensic Intelligence Platform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Theme: </a:t>
            </a:r>
            <a:r>
              <a:rPr sz="1300" b="1">
                <a:solidFill>
                  <a:srgbClr val="334155"/>
                </a:solidFill>
                <a:latin typeface="Calibri"/>
              </a:rPr>
              <a:t>Block Chain and Cyber Security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PS Category: </a:t>
            </a:r>
            <a:r>
              <a:rPr sz="1300" b="0">
                <a:solidFill>
                  <a:srgbClr val="334155"/>
                </a:solidFill>
                <a:latin typeface="Calibri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Team ID: </a:t>
            </a:r>
            <a:r>
              <a:rPr sz="1300" b="0">
                <a:solidFill>
                  <a:srgbClr val="334155"/>
                </a:solidFill>
                <a:latin typeface="Calibri"/>
              </a:rPr>
              <a:t>SIH2026-T1700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Team Name: </a:t>
            </a:r>
            <a:r>
              <a:rPr sz="1300" b="1">
                <a:solidFill>
                  <a:srgbClr val="0284C7"/>
                </a:solidFill>
                <a:latin typeface="Calibri"/>
              </a:rPr>
              <a:t>The Watchdog Legion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AI-Powered Email Threat Detection &amp; Forensic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F172A"/>
                </a:solidFill>
                <a:latin typeface="Calibri"/>
              </a:defRPr>
            </a:pPr>
            <a:r>
              <a:t>The Watchdog Legion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612648" y="1371600"/>
            <a:ext cx="350520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b="1" sz="900">
                <a:solidFill>
                  <a:srgbClr val="0284C7"/>
                </a:solidFill>
                <a:latin typeface="Calibri"/>
              </a:defRPr>
            </a:pPr>
            <a:r>
              <a:t>CORE IDEA &amp; ARCHITECTURE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Triangulated Threat Fusion Platform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284C7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Unified Forensic System: </a:t>
            </a:r>
            <a:r>
              <a:rPr sz="950">
                <a:solidFill>
                  <a:srgbClr val="334155"/>
                </a:solidFill>
                <a:latin typeface="Calibri"/>
              </a:rPr>
              <a:t>Integrates AI/NLP + Threat Intel + Multi-Hop GeoTracing + Blockchain into one automated workbench.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284C7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Zero-Execution Static Sandbox: </a:t>
            </a:r>
            <a:r>
              <a:rPr sz="950">
                <a:solidFill>
                  <a:srgbClr val="334155"/>
                </a:solidFill>
                <a:latin typeface="Calibri"/>
              </a:rPr>
              <a:t>Deconstructs raw RFC 5322 MIME streams safely without ever executing live malicious payloads or scripts.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284C7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Direct Mailbox Ingestion: </a:t>
            </a:r>
            <a:r>
              <a:rPr sz="950">
                <a:solidFill>
                  <a:srgbClr val="334155"/>
                </a:solidFill>
                <a:latin typeface="Calibri"/>
              </a:rPr>
              <a:t>Native Google OAuth integration enables live workspace monitoring without manual .eml file handling.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346448" y="1371600"/>
            <a:ext cx="350520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b="1" sz="900">
                <a:solidFill>
                  <a:srgbClr val="10B981"/>
                </a:solidFill>
                <a:latin typeface="Calibri"/>
              </a:defRPr>
            </a:pPr>
            <a:r>
              <a:t>HOW IT ADDRESSES THE PROBLEM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Eliminating Opaque Black Boxes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Independent Cryptographic Auth: </a:t>
            </a:r>
            <a:r>
              <a:rPr sz="950">
                <a:solidFill>
                  <a:srgbClr val="334155"/>
                </a:solidFill>
                <a:latin typeface="Calibri"/>
              </a:rPr>
              <a:t>Verifies live SPF, DKIM RSA signatures, and DMARC alignment via direct DNS queries.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Hop-by-Hop Spatial Attribution: </a:t>
            </a:r>
            <a:r>
              <a:rPr sz="950">
                <a:solidFill>
                  <a:srgbClr val="334155"/>
                </a:solidFill>
                <a:latin typeface="Calibri"/>
              </a:rPr>
              <a:t>Traces Received relay headers back to origin IP, cross-checking Tor nodes, proxies, and timezones.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Sub-3-Second Triage: </a:t>
            </a:r>
            <a:r>
              <a:rPr sz="950">
                <a:solidFill>
                  <a:srgbClr val="334155"/>
                </a:solidFill>
                <a:latin typeface="Calibri"/>
              </a:rPr>
              <a:t>FastAPI asynchronous coroutines triage high-volume email queues in under 3 seconds per message.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8080248" y="1371600"/>
            <a:ext cx="350520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b="1" sz="900">
                <a:solidFill>
                  <a:srgbClr val="D97706"/>
                </a:solidFill>
                <a:latin typeface="Calibri"/>
              </a:defRPr>
            </a:pPr>
            <a:r>
              <a:t>INNOVATION &amp; UNIQUENESS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Legal Integrity &amp; Indian Context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D97706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Sepolia Blockchain Chain-of-Custody: </a:t>
            </a:r>
            <a:r>
              <a:rPr sz="950">
                <a:solidFill>
                  <a:srgbClr val="334155"/>
                </a:solidFill>
                <a:latin typeface="Calibri"/>
              </a:rPr>
              <a:t>Anchors SHA-256 evidence digests on Ethereum for court-admissible legal integrity.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D97706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Sovereign Threat Telemetry: </a:t>
            </a:r>
            <a:r>
              <a:rPr sz="950">
                <a:solidFill>
                  <a:srgbClr val="334155"/>
                </a:solidFill>
                <a:latin typeface="Calibri"/>
              </a:rPr>
              <a:t>Dedicated detectors for Indian PSU bank (SBI, HDFC) spoofing, UPI fraud, and .gov.in divergence.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D97706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1-Click CERT-In Dispatch: </a:t>
            </a:r>
            <a:r>
              <a:rPr sz="950">
                <a:solidFill>
                  <a:srgbClr val="334155"/>
                </a:solidFill>
                <a:latin typeface="Calibri"/>
              </a:rPr>
              <a:t>Instantly compiles national standard incident reports and STIX 2.1 threat intelligence bundles.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F172A"/>
                </a:solidFill>
                <a:latin typeface="Calibri"/>
              </a:defRPr>
            </a:pPr>
            <a:r>
              <a:t>The Watchdog Legion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12648" y="1371600"/>
            <a:ext cx="350520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b="1" sz="900">
                <a:solidFill>
                  <a:srgbClr val="0284C7"/>
                </a:solidFill>
                <a:latin typeface="Calibri"/>
              </a:defRPr>
            </a:pPr>
            <a:r>
              <a:t>TECHNOLOGIES &amp; FRAMEWORKS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Core Technology Stack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284C7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Backend &amp; Async Engine: </a:t>
            </a:r>
            <a:r>
              <a:rPr sz="950">
                <a:solidFill>
                  <a:srgbClr val="334155"/>
                </a:solidFill>
                <a:latin typeface="Calibri"/>
              </a:rPr>
              <a:t>Python 3.13, FastAPI, SQLAlchemy, Pydantic v2, PostgreSQL with SQLite fallback.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284C7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Frontend &amp; Visualization: </a:t>
            </a:r>
            <a:r>
              <a:rPr sz="950">
                <a:solidFill>
                  <a:srgbClr val="334155"/>
                </a:solidFill>
                <a:latin typeface="Calibri"/>
              </a:rPr>
              <a:t>React 19, TypeScript, Tailwind CSS, MapLibre GL for spatial relay maps, Recharts for SOC metrics.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284C7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Threat Intelligence APIs: </a:t>
            </a:r>
            <a:r>
              <a:rPr sz="950">
                <a:solidFill>
                  <a:srgbClr val="334155"/>
                </a:solidFill>
                <a:latin typeface="Calibri"/>
              </a:rPr>
              <a:t>Keyless Shodan InternetDB, AbuseIPDB, URLhaus, Tor Bulk Exit cache, and RDAP registration lookup.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284C7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Smart Contracts &amp; Web3: </a:t>
            </a:r>
            <a:r>
              <a:rPr sz="950">
                <a:solidFill>
                  <a:srgbClr val="334155"/>
                </a:solidFill>
                <a:latin typeface="Calibri"/>
              </a:rPr>
              <a:t>Solidity contract deployed on Ethereum Sepolia Testnet via Web3.py.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346448" y="1371600"/>
            <a:ext cx="350520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b="1" sz="900">
                <a:solidFill>
                  <a:srgbClr val="10B981"/>
                </a:solidFill>
                <a:latin typeface="Calibri"/>
              </a:defRPr>
            </a:pPr>
            <a:r>
              <a:t>METHODOLOGY &amp; PIPELINE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5-Stage Forensic Workflow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1. Safe Ingestion: </a:t>
            </a:r>
            <a:r>
              <a:rPr sz="950">
                <a:solidFill>
                  <a:srgbClr val="334155"/>
                </a:solidFill>
                <a:latin typeface="Calibri"/>
              </a:rPr>
              <a:t>RFC 5322 MIME stream parser with Base64/QP decoding and live Google OAuth connector.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2. Static Inspection: </a:t>
            </a:r>
            <a:r>
              <a:rPr sz="950">
                <a:solidFill>
                  <a:srgbClr val="334155"/>
                </a:solidFill>
                <a:latin typeface="Calibri"/>
              </a:rPr>
              <a:t>pyspf + dkimpy cryptographic resolver, OOXML macro scanner, and Levenshtein homoglyph engine.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3. Intel &amp; GeoTracing: </a:t>
            </a:r>
            <a:r>
              <a:rPr sz="950">
                <a:solidFill>
                  <a:srgbClr val="334155"/>
                </a:solidFill>
                <a:latin typeface="Calibri"/>
              </a:rPr>
              <a:t>Hop-by-hop relay map reconstruction, IP classification, and Tor exit node verification.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4. Threat Fusion &amp; XAI: </a:t>
            </a:r>
            <a:r>
              <a:rPr sz="950">
                <a:solidFill>
                  <a:srgbClr val="334155"/>
                </a:solidFill>
                <a:latin typeface="Calibri"/>
              </a:rPr>
              <a:t>0-100 calibrated risk index with plain-English explainability and MITRE ATT&amp;CK mapping.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5. Legal Preservation: </a:t>
            </a:r>
            <a:r>
              <a:rPr sz="950">
                <a:solidFill>
                  <a:srgbClr val="334155"/>
                </a:solidFill>
                <a:latin typeface="Calibri"/>
              </a:rPr>
              <a:t>Sepolia hash anchor, court-admissible PDF dossier, and 1-click CERT-In incident dispatch.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8080248" y="1371600"/>
            <a:ext cx="350520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b="1" sz="900">
                <a:solidFill>
                  <a:srgbClr val="D97706"/>
                </a:solidFill>
                <a:latin typeface="Calibri"/>
              </a:defRPr>
            </a:pPr>
            <a:r>
              <a:t>MACHINE LEARNING &amp; AI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Ensemble Classification Architecture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D97706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TF-IDF Structural Classifier: </a:t>
            </a:r>
            <a:r>
              <a:rPr sz="950">
                <a:solidFill>
                  <a:srgbClr val="334155"/>
                </a:solidFill>
                <a:latin typeface="Calibri"/>
              </a:rPr>
              <a:t>Scales structural email tokens, HTML-to-text ratios, and capital distribution in &lt;15ms.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D97706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DistilBERT Transformer: </a:t>
            </a:r>
            <a:r>
              <a:rPr sz="950">
                <a:solidFill>
                  <a:srgbClr val="334155"/>
                </a:solidFill>
                <a:latin typeface="Calibri"/>
              </a:rPr>
              <a:t>Drop-in semantic classifier trained on public phishing corpora to detect AI-written spear-phishing lures.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D97706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Explainable AI (XAI): </a:t>
            </a:r>
            <a:r>
              <a:rPr sz="950">
                <a:solidFill>
                  <a:srgbClr val="334155"/>
                </a:solidFill>
                <a:latin typeface="Calibri"/>
              </a:rPr>
              <a:t>Provides auditable causal factors ('Why Flagged?') instead of black-box prediction percentages.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F172A"/>
                </a:solidFill>
                <a:latin typeface="Calibri"/>
              </a:defRPr>
            </a:pPr>
            <a:r>
              <a:t>The Watchdog Legion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12648" y="1371600"/>
            <a:ext cx="350520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b="1" sz="900">
                <a:solidFill>
                  <a:srgbClr val="0284C7"/>
                </a:solidFill>
                <a:latin typeface="Calibri"/>
              </a:defRPr>
            </a:pPr>
            <a:r>
              <a:t>FEASIBILITY ANALYSIS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Production-Ready Architecture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284C7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Demonstrated Stability: </a:t>
            </a:r>
            <a:r>
              <a:rPr sz="950">
                <a:solidFill>
                  <a:srgbClr val="334155"/>
                </a:solidFill>
                <a:latin typeface="Calibri"/>
              </a:rPr>
              <a:t>Core pipeline is 100% operational with 225+ passing unit and real-world regression tests.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284C7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Hardware Agnostic: </a:t>
            </a:r>
            <a:r>
              <a:rPr sz="950">
                <a:solidFill>
                  <a:srgbClr val="334155"/>
                </a:solidFill>
                <a:latin typeface="Calibri"/>
              </a:rPr>
              <a:t>Requires no specialized appliances or GPUs; runs efficiently on standard cloud compute instances.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284C7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Frictionless Adoption: </a:t>
            </a:r>
            <a:r>
              <a:rPr sz="950">
                <a:solidFill>
                  <a:srgbClr val="334155"/>
                </a:solidFill>
                <a:latin typeface="Calibri"/>
              </a:rPr>
              <a:t>Operates as an active Google OAuth listener, a standalone SOC analyst workbench, or an API gateway.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346448" y="1371600"/>
            <a:ext cx="350520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b="1" sz="900">
                <a:solidFill>
                  <a:srgbClr val="D97706"/>
                </a:solidFill>
                <a:latin typeface="Calibri"/>
              </a:defRPr>
            </a:pPr>
            <a:r>
              <a:t>CHALLENGES &amp; EDGE CASES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Identified Operational Risks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D97706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External API Throttling: </a:t>
            </a:r>
            <a:r>
              <a:rPr sz="950">
                <a:solidFill>
                  <a:srgbClr val="334155"/>
                </a:solidFill>
                <a:latin typeface="Calibri"/>
              </a:rPr>
              <a:t>Public threat intelligence feeds (VirusTotal, Shodan) may experience rate limits during bulk bursts.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D97706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Adversarial Proxy Routing: </a:t>
            </a:r>
            <a:r>
              <a:rPr sz="950">
                <a:solidFill>
                  <a:srgbClr val="334155"/>
                </a:solidFill>
                <a:latin typeface="Calibri"/>
              </a:rPr>
              <a:t>Attackers route messages through residential proxies, VPNs, and Tor exit relays to mask location.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D97706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Privacy &amp; Regulatory Compliance: </a:t>
            </a:r>
            <a:r>
              <a:rPr sz="950">
                <a:solidFill>
                  <a:srgbClr val="334155"/>
                </a:solidFill>
                <a:latin typeface="Calibri"/>
              </a:rPr>
              <a:t>Corporate emails contain sensitive PII subject to India's Digital Personal Data Protection (DPDP) Act.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8080248" y="1371600"/>
            <a:ext cx="350520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b="1" sz="900">
                <a:solidFill>
                  <a:srgbClr val="10B981"/>
                </a:solidFill>
                <a:latin typeface="Calibri"/>
              </a:defRPr>
            </a:pPr>
            <a:r>
              <a:t>MITIGATION STRATEGIES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Engineered Countermeasures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Circuit Breakers &amp; Keyless Feeds: </a:t>
            </a:r>
            <a:r>
              <a:rPr sz="950">
                <a:solidFill>
                  <a:srgbClr val="334155"/>
                </a:solidFill>
                <a:latin typeface="Calibri"/>
              </a:rPr>
              <a:t>Offline heuristic rules ensure 100% availability even when third-party threat APIs are down.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Tor Cache &amp; Timezone Drift: </a:t>
            </a:r>
            <a:r>
              <a:rPr sz="950">
                <a:solidFill>
                  <a:srgbClr val="334155"/>
                </a:solidFill>
                <a:latin typeface="Calibri"/>
              </a:rPr>
              <a:t>Actively flags Tor exit nodes and detects discrepancies between header timezones and IP coordinates.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Strict Data Minimization: </a:t>
            </a:r>
            <a:r>
              <a:rPr sz="950">
                <a:solidFill>
                  <a:srgbClr val="334155"/>
                </a:solidFill>
                <a:latin typeface="Calibri"/>
              </a:rPr>
              <a:t>Automatic PII redaction and raw body masking conform strictly to ISO/IEC 27037 and DPDP standards.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F172A"/>
                </a:solidFill>
                <a:latin typeface="Calibri"/>
              </a:defRPr>
            </a:pPr>
            <a:r>
              <a:t>The Watchdog Legion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12648" y="1371600"/>
            <a:ext cx="350520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b="1" sz="900">
                <a:solidFill>
                  <a:srgbClr val="0284C7"/>
                </a:solidFill>
                <a:latin typeface="Calibri"/>
              </a:defRPr>
            </a:pPr>
            <a:r>
              <a:t>TARGET AUDIENCE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Empowering Cyber Defenders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284C7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Law Enforcement &amp; Cyber Cells: </a:t>
            </a:r>
            <a:r>
              <a:rPr sz="950">
                <a:solidFill>
                  <a:srgbClr val="334155"/>
                </a:solidFill>
                <a:latin typeface="Calibri"/>
              </a:rPr>
              <a:t>Equips cybercrime police with legally defensible digital evidence and instant spatial origin mapping.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284C7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Enterprise SOC Teams: </a:t>
            </a:r>
            <a:r>
              <a:rPr sz="950">
                <a:solidFill>
                  <a:srgbClr val="334155"/>
                </a:solidFill>
                <a:latin typeface="Calibri"/>
              </a:rPr>
              <a:t>Eliminates alert fatigue by reducing manual email header investigation time from 3 hours to &lt;3 seconds.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284C7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Government &amp; Critical Infra: </a:t>
            </a:r>
            <a:r>
              <a:rPr sz="950">
                <a:solidFill>
                  <a:srgbClr val="334155"/>
                </a:solidFill>
                <a:latin typeface="Calibri"/>
              </a:rPr>
              <a:t>Shields sovereign .gov.in and .nic.in domains from advanced impersonation and BEC fraud.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346448" y="1371600"/>
            <a:ext cx="350520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b="1" sz="900">
                <a:solidFill>
                  <a:srgbClr val="10B981"/>
                </a:solidFill>
                <a:latin typeface="Calibri"/>
              </a:defRPr>
            </a:pPr>
            <a:r>
              <a:t>SECURITY &amp; LEGAL BENEFITS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Unrivaled Evidentiary Rigor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Tamper-Proof Court Admissibility: </a:t>
            </a:r>
            <a:r>
              <a:rPr sz="950">
                <a:solidFill>
                  <a:srgbClr val="334155"/>
                </a:solidFill>
                <a:latin typeface="Calibri"/>
              </a:rPr>
              <a:t>Blockchain-anchored SHA-256 evidence prevents claims of post-incident log manipulation.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Accelerated Incident Containment: </a:t>
            </a:r>
            <a:r>
              <a:rPr sz="950">
                <a:solidFill>
                  <a:srgbClr val="334155"/>
                </a:solidFill>
                <a:latin typeface="Calibri"/>
              </a:rPr>
              <a:t>Automated IOC extraction (IPs, domains, hashes) enables instant SIEM/SOAR blocklist push.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Transparent Trust Accounting: </a:t>
            </a:r>
            <a:r>
              <a:rPr sz="950">
                <a:solidFill>
                  <a:srgbClr val="334155"/>
                </a:solidFill>
                <a:latin typeface="Calibri"/>
              </a:rPr>
              <a:t>Plain-English forensic findings provide actionable containment steps for non-technical executives.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8080248" y="1371600"/>
            <a:ext cx="350520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b="1" sz="900">
                <a:solidFill>
                  <a:srgbClr val="D97706"/>
                </a:solidFill>
                <a:latin typeface="Calibri"/>
              </a:defRPr>
            </a:pPr>
            <a:r>
              <a:t>ECONOMIC &amp; STRATEGIC VALUE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Zero-Cost Sovereign Protection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D97706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Zero Per-Scan API Licensing: </a:t>
            </a:r>
            <a:r>
              <a:rPr sz="950">
                <a:solidFill>
                  <a:srgbClr val="334155"/>
                </a:solidFill>
                <a:latin typeface="Calibri"/>
              </a:rPr>
              <a:t>Powered entirely by open-source libraries and keyless intelligence feeds, costing ₹0 per scan.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D97706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High Financial Fraud Mitigation: </a:t>
            </a:r>
            <a:r>
              <a:rPr sz="950">
                <a:solidFill>
                  <a:srgbClr val="334155"/>
                </a:solidFill>
                <a:latin typeface="Calibri"/>
              </a:rPr>
              <a:t>Prevents multi-crore wire fraud and invoice manipulation by detecting unauthorized return paths.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D97706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Sovereign Self-Reliance: </a:t>
            </a:r>
            <a:r>
              <a:rPr sz="950">
                <a:solidFill>
                  <a:srgbClr val="334155"/>
                </a:solidFill>
                <a:latin typeface="Calibri"/>
              </a:rPr>
              <a:t>Reduces reliance on expensive foreign appliances by providing an indigenously developed tool.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F172A"/>
                </a:solidFill>
                <a:latin typeface="Calibri"/>
              </a:defRPr>
            </a:pPr>
            <a:r>
              <a:t>The Watchdog Legion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12648" y="1371600"/>
            <a:ext cx="350520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b="1" sz="900">
                <a:solidFill>
                  <a:srgbClr val="0284C7"/>
                </a:solidFill>
                <a:latin typeface="Calibri"/>
              </a:defRPr>
            </a:pPr>
            <a:r>
              <a:t>EMAIL PROTOCOLS &amp; SPECIFICATIONS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Internet RFC Standards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284C7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RFC 7208: </a:t>
            </a:r>
            <a:r>
              <a:rPr sz="950">
                <a:solidFill>
                  <a:srgbClr val="334155"/>
                </a:solidFill>
                <a:latin typeface="Calibri"/>
              </a:rPr>
              <a:t>Sender Policy Framework (SPF) for authorizing sending IP addresses.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284C7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RFC 6376: </a:t>
            </a:r>
            <a:r>
              <a:rPr sz="950">
                <a:solidFill>
                  <a:srgbClr val="334155"/>
                </a:solidFill>
                <a:latin typeface="Calibri"/>
              </a:rPr>
              <a:t>DomainKeys Identified Mail (DKIM) cryptographic signatures.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284C7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RFC 7489: </a:t>
            </a:r>
            <a:r>
              <a:rPr sz="950">
                <a:solidFill>
                  <a:srgbClr val="334155"/>
                </a:solidFill>
                <a:latin typeface="Calibri"/>
              </a:rPr>
              <a:t>Domain-based Message Authentication, Reporting &amp; Conformance (DMARC).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284C7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RFC 8617: </a:t>
            </a:r>
            <a:r>
              <a:rPr sz="950">
                <a:solidFill>
                  <a:srgbClr val="334155"/>
                </a:solidFill>
                <a:latin typeface="Calibri"/>
              </a:rPr>
              <a:t>Authenticated Received Chain (ARC) protocol for multi-hop mail forwarding.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0284C7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RFC 5322: </a:t>
            </a:r>
            <a:r>
              <a:rPr sz="950">
                <a:solidFill>
                  <a:srgbClr val="334155"/>
                </a:solidFill>
                <a:latin typeface="Calibri"/>
              </a:rPr>
              <a:t>Internet Message Format (IMF) structural standards.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346448" y="1371600"/>
            <a:ext cx="350520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b="1" sz="900">
                <a:solidFill>
                  <a:srgbClr val="10B981"/>
                </a:solidFill>
                <a:latin typeface="Calibri"/>
              </a:defRPr>
            </a:pPr>
            <a:r>
              <a:t>THREAT FRAMEWORKS &amp; FEEDS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Intelligence Standardization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MITRE ATT&amp;CK Matrix: </a:t>
            </a:r>
            <a:r>
              <a:rPr sz="950">
                <a:solidFill>
                  <a:srgbClr val="334155"/>
                </a:solidFill>
                <a:latin typeface="Calibri"/>
              </a:rPr>
              <a:t>Techniques T1566 (Phishing), T1078 (Valid Accounts), T1036 (Masquerading).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OASIS STIX 2.1: </a:t>
            </a:r>
            <a:r>
              <a:rPr sz="950">
                <a:solidFill>
                  <a:srgbClr val="334155"/>
                </a:solidFill>
                <a:latin typeface="Calibri"/>
              </a:rPr>
              <a:t>Structured Threat Information Expression specification for CTI sharing.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AbuseIPDB &amp; URLhaus: </a:t>
            </a:r>
            <a:r>
              <a:rPr sz="950">
                <a:solidFill>
                  <a:srgbClr val="334155"/>
                </a:solidFill>
                <a:latin typeface="Calibri"/>
              </a:rPr>
              <a:t>Real-time global repository of verified malicious IPs and malware domains.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Shodan InternetDB: </a:t>
            </a:r>
            <a:r>
              <a:rPr sz="950">
                <a:solidFill>
                  <a:srgbClr val="334155"/>
                </a:solidFill>
                <a:latin typeface="Calibri"/>
              </a:rPr>
              <a:t>Keyless network port and vulnerability reconnaissance.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10B981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Spamhaus DNSBL: </a:t>
            </a:r>
            <a:r>
              <a:rPr sz="950">
                <a:solidFill>
                  <a:srgbClr val="334155"/>
                </a:solidFill>
                <a:latin typeface="Calibri"/>
              </a:rPr>
              <a:t>DNS-based real-time blocklists for known spam hosts.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8080248" y="1371600"/>
            <a:ext cx="350520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b="1" sz="900">
                <a:solidFill>
                  <a:srgbClr val="D97706"/>
                </a:solidFill>
                <a:latin typeface="Calibri"/>
              </a:defRPr>
            </a:pPr>
            <a:r>
              <a:t>BLOCKCHAIN &amp; LEGAL ADMISSIBILITY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Digital Evidence Guidelines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D97706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ISO/IEC 27037:2012: </a:t>
            </a:r>
            <a:r>
              <a:rPr sz="950">
                <a:solidFill>
                  <a:srgbClr val="334155"/>
                </a:solidFill>
                <a:latin typeface="Calibri"/>
              </a:rPr>
              <a:t>Guidelines for identification, collection, and preservation of digital evidence.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D97706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Ethereum Sepolia Testnet: </a:t>
            </a:r>
            <a:r>
              <a:rPr sz="950">
                <a:solidFill>
                  <a:srgbClr val="334155"/>
                </a:solidFill>
                <a:latin typeface="Calibri"/>
              </a:rPr>
              <a:t>Immutable decentralized smart contract ledger for tamper-evident hashing.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D97706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Indian IT Act &amp; BSA: </a:t>
            </a:r>
            <a:r>
              <a:rPr sz="950">
                <a:solidFill>
                  <a:srgbClr val="334155"/>
                </a:solidFill>
                <a:latin typeface="Calibri"/>
              </a:rPr>
              <a:t>Admissibility compliance under Bharatiya Sakshya Adhiniyam for electronic records.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D97706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CERT-In Guidelines: </a:t>
            </a:r>
            <a:r>
              <a:rPr sz="950">
                <a:solidFill>
                  <a:srgbClr val="334155"/>
                </a:solidFill>
                <a:latin typeface="Calibri"/>
              </a:rPr>
              <a:t>National cyber incident reporting formats for automated law-enforcement dispatch.</a:t>
            </a:r>
          </a:p>
          <a:p>
            <a:pPr>
              <a:spcBef>
                <a:spcPts val="700"/>
              </a:spcBef>
            </a:pPr>
            <a:r>
              <a:rPr b="1" sz="1000">
                <a:solidFill>
                  <a:srgbClr val="D97706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Benchmarking Datasets: </a:t>
            </a:r>
            <a:r>
              <a:rPr sz="950">
                <a:solidFill>
                  <a:srgbClr val="334155"/>
                </a:solidFill>
                <a:latin typeface="Calibri"/>
              </a:rPr>
              <a:t>Validation across Enron Email Corpus, SpamAssassin, and real-world lures.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